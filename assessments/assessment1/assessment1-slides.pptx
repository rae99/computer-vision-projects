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59" r:id="rId7"/>
    <p:sldId id="264" r:id="rId8"/>
    <p:sldId id="266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2"/>
    <p:restoredTop sz="94737"/>
  </p:normalViewPr>
  <p:slideViewPr>
    <p:cSldViewPr snapToGrid="0">
      <p:cViewPr>
        <p:scale>
          <a:sx n="69" d="100"/>
          <a:sy n="69" d="100"/>
        </p:scale>
        <p:origin x="2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04138-B771-6241-B1C3-EFBF6AC085F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8ED20-3057-3A4F-B45A-16E23F5B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4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8ED20-3057-3A4F-B45A-16E23F5B70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6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9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5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6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6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8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5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6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5FB6F-6871-A79A-CD62-CFF75439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2" b="1503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C7C25-AD2B-15ED-CD7A-75FAA65E9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 fontScale="90000"/>
          </a:bodyPr>
          <a:lstStyle/>
          <a:p>
            <a:r>
              <a:rPr lang="en-US" sz="6600" dirty="0"/>
              <a:t>Entropy: Measuring Visual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EFE51-F74D-3B7B-9FA9-FAFAEA6D5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/>
              <a:t>Presented by Junrui 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613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E3A6-9FBF-6175-33D7-B40687963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7478"/>
          </a:xfrm>
        </p:spPr>
        <p:txBody>
          <a:bodyPr/>
          <a:lstStyle/>
          <a:p>
            <a:r>
              <a:rPr lang="en-US" dirty="0"/>
              <a:t>Entropy—measures disorder</a:t>
            </a:r>
          </a:p>
        </p:txBody>
      </p:sp>
      <p:pic>
        <p:nvPicPr>
          <p:cNvPr id="6" name="Content Placeholder 5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DD47C13E-E18A-F83E-305D-42E5EBED2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688" y="2441448"/>
            <a:ext cx="3313341" cy="3313341"/>
          </a:xfrm>
        </p:spPr>
      </p:pic>
      <p:pic>
        <p:nvPicPr>
          <p:cNvPr id="8" name="Picture 7" descr="A black and white speckled background&#10;&#10;Description automatically generated">
            <a:extLst>
              <a:ext uri="{FF2B5EF4-FFF2-40B4-BE49-F238E27FC236}">
                <a16:creationId xmlns:a16="http://schemas.microsoft.com/office/drawing/2014/main" id="{54B67D13-1856-119E-D216-9E3014EA9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188" y="2441448"/>
            <a:ext cx="3313341" cy="33133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EA65A4-4626-3800-0937-873EDE7C900A}"/>
              </a:ext>
            </a:extLst>
          </p:cNvPr>
          <p:cNvSpPr txBox="1"/>
          <p:nvPr/>
        </p:nvSpPr>
        <p:spPr>
          <a:xfrm>
            <a:off x="1106260" y="59565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Completely predictable. Low entropy</a:t>
            </a:r>
            <a:r>
              <a:rPr lang="en-CA" sz="2400" dirty="0">
                <a:effectLst/>
              </a:rPr>
              <a:t> 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C10E2-F59B-B706-D969-4C917C064F2C}"/>
              </a:ext>
            </a:extLst>
          </p:cNvPr>
          <p:cNvSpPr txBox="1"/>
          <p:nvPr/>
        </p:nvSpPr>
        <p:spPr>
          <a:xfrm>
            <a:off x="6096000" y="59565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Impossible to predict. High entropy.</a:t>
            </a:r>
            <a:r>
              <a:rPr lang="en-CA" sz="2400" dirty="0">
                <a:effectLst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102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8C66-ABF0-41B1-4B5A-662B87BA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Shannon Entropy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0E6597F-A283-F8A9-F87A-140D8F01D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0E6597F-A283-F8A9-F87A-140D8F01D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  <a:blipFill>
                <a:blip r:embed="rId2"/>
                <a:stretch>
                  <a:fillRect l="-4336" t="-80682" b="-10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FA1CA3-C0F8-BD4D-F5B3-3332314A6498}"/>
                  </a:ext>
                </a:extLst>
              </p:cNvPr>
              <p:cNvSpPr txBox="1"/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3200" dirty="0"/>
                  <a:t> = probability of pixel value </a:t>
                </a:r>
                <a:r>
                  <a:rPr lang="en-CA" sz="3200" dirty="0" err="1"/>
                  <a:t>i</a:t>
                </a:r>
                <a:r>
                  <a:rPr lang="en-CA" sz="3200" dirty="0"/>
                  <a:t> appearing in the image, we can get it from normalized Histogram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CA" sz="3200" dirty="0"/>
                  <a:t>how "surprising" it is to see value </a:t>
                </a:r>
                <a:r>
                  <a:rPr lang="en-CA" sz="3200" dirty="0" err="1"/>
                  <a:t>i</a:t>
                </a:r>
                <a:endParaRPr lang="en-CA" sz="3200" dirty="0"/>
              </a:p>
              <a:p>
                <a:r>
                  <a:rPr lang="en-CA" sz="3200" dirty="0">
                    <a:effectLst/>
                  </a:rPr>
                  <a:t>H</a:t>
                </a:r>
                <a:r>
                  <a:rPr lang="en-CA" sz="3200" dirty="0"/>
                  <a:t> = weighted average surprise</a:t>
                </a:r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FA1CA3-C0F8-BD4D-F5B3-3332314A6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blipFill>
                <a:blip r:embed="rId3"/>
                <a:stretch>
                  <a:fillRect l="-1480" t="-3261" r="-863" b="-8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9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3F32-E763-6AFC-56E1-A6A6C863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9744-7BB8-AD99-EE6D-0F5F5B14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Shannon Entropy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2DC5E07-C620-7A71-8DAD-BF89105CFA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2DC5E07-C620-7A71-8DAD-BF89105CFA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  <a:blipFill>
                <a:blip r:embed="rId2"/>
                <a:stretch>
                  <a:fillRect l="-4336" t="-80682" b="-10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D6906-2C24-D8D8-38BE-D6867EE0201D}"/>
                  </a:ext>
                </a:extLst>
              </p:cNvPr>
              <p:cNvSpPr txBox="1"/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3200" dirty="0"/>
                  <a:t> = probability of pixel value </a:t>
                </a:r>
                <a:r>
                  <a:rPr lang="en-CA" sz="3200" dirty="0" err="1"/>
                  <a:t>i</a:t>
                </a:r>
                <a:r>
                  <a:rPr lang="en-CA" sz="3200" dirty="0"/>
                  <a:t> appearing in the image, we can get it from normalized Histogram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CA" sz="3200" dirty="0"/>
                  <a:t>how "surprising" it is to see value </a:t>
                </a:r>
                <a:r>
                  <a:rPr lang="en-CA" sz="3200" dirty="0" err="1"/>
                  <a:t>i</a:t>
                </a:r>
                <a:endParaRPr lang="en-CA" sz="3200" dirty="0"/>
              </a:p>
              <a:p>
                <a:r>
                  <a:rPr lang="en-CA" sz="3200" dirty="0">
                    <a:effectLst/>
                  </a:rPr>
                  <a:t>H</a:t>
                </a:r>
                <a:r>
                  <a:rPr lang="en-CA" sz="3200" dirty="0"/>
                  <a:t> = weighted average surprise</a:t>
                </a:r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7D6906-2C24-D8D8-38BE-D6867EE02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blipFill>
                <a:blip r:embed="rId3"/>
                <a:stretch>
                  <a:fillRect l="-1480" t="-3261" r="-863" b="-8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9C7B869-5F62-C06D-1D4A-FE842C1A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90" y="1709928"/>
            <a:ext cx="10291433" cy="48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84B0D-3D4B-67B0-3F62-B047173A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DAFB-9E91-D0F4-8813-EA76B11A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Shannon Entropy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E37B2F1-655C-7351-7D31-AC4B83544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E37B2F1-655C-7351-7D31-AC4B83544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390" y="2067712"/>
                <a:ext cx="4673362" cy="1098447"/>
              </a:xfrm>
              <a:blipFill>
                <a:blip r:embed="rId2"/>
                <a:stretch>
                  <a:fillRect l="-4336" t="-80682" b="-10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FE8755-05C3-C0CA-6F84-83EEB9F4854D}"/>
                  </a:ext>
                </a:extLst>
              </p:cNvPr>
              <p:cNvSpPr txBox="1"/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3200" dirty="0"/>
                  <a:t> = probability of pixel value </a:t>
                </a:r>
                <a:r>
                  <a:rPr lang="en-CA" sz="3200" dirty="0" err="1"/>
                  <a:t>i</a:t>
                </a:r>
                <a:r>
                  <a:rPr lang="en-CA" sz="3200" dirty="0"/>
                  <a:t> appearing in the image, we can get it from normalized Histogram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CA" sz="3200" dirty="0"/>
                  <a:t>how "surprising" it is to see value </a:t>
                </a:r>
                <a:r>
                  <a:rPr lang="en-CA" sz="3200" dirty="0" err="1"/>
                  <a:t>i</a:t>
                </a:r>
                <a:endParaRPr lang="en-CA" sz="3200" dirty="0"/>
              </a:p>
              <a:p>
                <a:r>
                  <a:rPr lang="en-CA" sz="3200" dirty="0">
                    <a:effectLst/>
                  </a:rPr>
                  <a:t>H</a:t>
                </a:r>
                <a:r>
                  <a:rPr lang="en-CA" sz="3200" dirty="0"/>
                  <a:t> = weighted average surprise</a:t>
                </a:r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FE8755-05C3-C0CA-6F84-83EEB9F48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90" y="3429000"/>
                <a:ext cx="10291433" cy="2331729"/>
              </a:xfrm>
              <a:prstGeom prst="rect">
                <a:avLst/>
              </a:prstGeom>
              <a:blipFill>
                <a:blip r:embed="rId3"/>
                <a:stretch>
                  <a:fillRect l="-1480" t="-3261" r="-863" b="-8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24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7FC4-E153-3246-A49D-B1644718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Computing Image Entropy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0D40-F060-D1E0-ABAD-F9A89563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3200" b="1" dirty="0"/>
              <a:t>Step 1</a:t>
            </a:r>
            <a:r>
              <a:rPr lang="en-CA" sz="3200" dirty="0"/>
              <a:t>: Convert image to grayscale </a:t>
            </a:r>
          </a:p>
          <a:p>
            <a:r>
              <a:rPr lang="en-CA" sz="3200" b="1" dirty="0"/>
              <a:t>Step 2</a:t>
            </a:r>
            <a:r>
              <a:rPr lang="en-CA" sz="3200" dirty="0"/>
              <a:t>: Compute normalized histogram → probability distribution </a:t>
            </a:r>
          </a:p>
          <a:p>
            <a:r>
              <a:rPr lang="en-CA" sz="3200" b="1" dirty="0"/>
              <a:t>Step 3</a:t>
            </a:r>
            <a:r>
              <a:rPr lang="en-CA" sz="3200" dirty="0"/>
              <a:t>: Plug into Shannon's formula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3585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12D3-45EE-DB8A-9AAE-631D8EE9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Computing Image Entropy</a:t>
            </a:r>
            <a:endParaRPr lang="en-US" dirty="0"/>
          </a:p>
        </p:txBody>
      </p:sp>
      <p:pic>
        <p:nvPicPr>
          <p:cNvPr id="5" name="Content Placeholder 4" descr="A black and white gradient&#10;&#10;Description automatically generated">
            <a:extLst>
              <a:ext uri="{FF2B5EF4-FFF2-40B4-BE49-F238E27FC236}">
                <a16:creationId xmlns:a16="http://schemas.microsoft.com/office/drawing/2014/main" id="{3E597070-592B-7F70-5421-06FF1767C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7603" y="2441448"/>
            <a:ext cx="1625600" cy="1625600"/>
          </a:xfr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978491-2156-CC2D-7A55-DCC755EE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603" y="4542385"/>
            <a:ext cx="1625600" cy="952500"/>
          </a:xfrm>
          <a:prstGeom prst="rect">
            <a:avLst/>
          </a:prstGeom>
        </p:spPr>
      </p:pic>
      <p:pic>
        <p:nvPicPr>
          <p:cNvPr id="9" name="Picture 8" descr="A black and white image of a city&#10;&#10;Description automatically generated">
            <a:extLst>
              <a:ext uri="{FF2B5EF4-FFF2-40B4-BE49-F238E27FC236}">
                <a16:creationId xmlns:a16="http://schemas.microsoft.com/office/drawing/2014/main" id="{905EB029-FF74-ABA3-1FB5-64FC0EA74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678" y="4542385"/>
            <a:ext cx="1625600" cy="952500"/>
          </a:xfrm>
          <a:prstGeom prst="rect">
            <a:avLst/>
          </a:prstGeo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A709902-A9F5-3369-7B20-A5BB685FA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977" y="4525641"/>
            <a:ext cx="1625600" cy="952500"/>
          </a:xfrm>
          <a:prstGeom prst="rect">
            <a:avLst/>
          </a:prstGeom>
        </p:spPr>
      </p:pic>
      <p:pic>
        <p:nvPicPr>
          <p:cNvPr id="13" name="Picture 12" descr="A black and white speckled background&#10;&#10;Description automatically generated">
            <a:extLst>
              <a:ext uri="{FF2B5EF4-FFF2-40B4-BE49-F238E27FC236}">
                <a16:creationId xmlns:a16="http://schemas.microsoft.com/office/drawing/2014/main" id="{B088F44F-8383-C5A6-011E-AD4702C3F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678" y="2441448"/>
            <a:ext cx="1625600" cy="1625600"/>
          </a:xfrm>
          <a:prstGeom prst="rect">
            <a:avLst/>
          </a:prstGeom>
        </p:spPr>
      </p:pic>
      <p:pic>
        <p:nvPicPr>
          <p:cNvPr id="15" name="Picture 14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30AF39F-0D1B-9400-E7C2-B24A780661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977" y="2441448"/>
            <a:ext cx="1625600" cy="1625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5A0C5D-91F9-9553-1669-389555A4F6EA}"/>
              </a:ext>
            </a:extLst>
          </p:cNvPr>
          <p:cNvSpPr txBox="1"/>
          <p:nvPr/>
        </p:nvSpPr>
        <p:spPr>
          <a:xfrm>
            <a:off x="763580" y="3090672"/>
            <a:ext cx="792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B0312F-7B04-88C3-6095-C8FE6C84ED6E}"/>
              </a:ext>
            </a:extLst>
          </p:cNvPr>
          <p:cNvSpPr txBox="1"/>
          <p:nvPr/>
        </p:nvSpPr>
        <p:spPr>
          <a:xfrm>
            <a:off x="763580" y="4811744"/>
            <a:ext cx="1184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DF992-A163-1671-8353-83526E22F974}"/>
              </a:ext>
            </a:extLst>
          </p:cNvPr>
          <p:cNvSpPr txBox="1"/>
          <p:nvPr/>
        </p:nvSpPr>
        <p:spPr>
          <a:xfrm>
            <a:off x="763580" y="6016752"/>
            <a:ext cx="94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14E6D-314B-A606-A72B-3C8063BAD76A}"/>
              </a:ext>
            </a:extLst>
          </p:cNvPr>
          <p:cNvSpPr txBox="1"/>
          <p:nvPr/>
        </p:nvSpPr>
        <p:spPr>
          <a:xfrm>
            <a:off x="3639312" y="61264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5FD0A9-5D0F-B7F8-65FA-F0E9DB21D9E9}"/>
              </a:ext>
            </a:extLst>
          </p:cNvPr>
          <p:cNvSpPr txBox="1"/>
          <p:nvPr/>
        </p:nvSpPr>
        <p:spPr>
          <a:xfrm>
            <a:off x="2578187" y="6016752"/>
            <a:ext cx="1820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White entropy: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A31ABA-B55C-3538-C7D3-CB6F7974BBC7}"/>
              </a:ext>
            </a:extLst>
          </p:cNvPr>
          <p:cNvSpPr txBox="1"/>
          <p:nvPr/>
        </p:nvSpPr>
        <p:spPr>
          <a:xfrm>
            <a:off x="5727603" y="5967702"/>
            <a:ext cx="2422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Gradient entropy: 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1ACDF9-A95D-6886-4974-A794B9428A2E}"/>
              </a:ext>
            </a:extLst>
          </p:cNvPr>
          <p:cNvSpPr txBox="1"/>
          <p:nvPr/>
        </p:nvSpPr>
        <p:spPr>
          <a:xfrm>
            <a:off x="8616835" y="5967702"/>
            <a:ext cx="2722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Noise entropy: 7.99703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D6E588-2FB2-AE80-9301-4A33C92C2027}"/>
              </a:ext>
            </a:extLst>
          </p:cNvPr>
          <p:cNvSpPr txBox="1"/>
          <p:nvPr/>
        </p:nvSpPr>
        <p:spPr>
          <a:xfrm>
            <a:off x="6361743" y="5530887"/>
            <a:ext cx="31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Entropy is spatially blind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57C9EBF-C52C-4A18-6AB7-0738392A119E}"/>
              </a:ext>
            </a:extLst>
          </p:cNvPr>
          <p:cNvCxnSpPr>
            <a:cxnSpLocks/>
          </p:cNvCxnSpPr>
          <p:nvPr/>
        </p:nvCxnSpPr>
        <p:spPr>
          <a:xfrm>
            <a:off x="10174915" y="6301809"/>
            <a:ext cx="950884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3C413C-8450-8F79-1395-6976D5974C08}"/>
              </a:ext>
            </a:extLst>
          </p:cNvPr>
          <p:cNvCxnSpPr>
            <a:cxnSpLocks/>
          </p:cNvCxnSpPr>
          <p:nvPr/>
        </p:nvCxnSpPr>
        <p:spPr>
          <a:xfrm>
            <a:off x="7539385" y="6301809"/>
            <a:ext cx="235651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6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02FDD-3C55-5AD6-6EBC-EF36FA27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0DA5-4C52-68B5-43CA-80AD52C4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as a Feature</a:t>
            </a:r>
          </a:p>
        </p:txBody>
      </p:sp>
      <p:pic>
        <p:nvPicPr>
          <p:cNvPr id="9" name="Content Placeholder 8" descr="A person sitting on a grass field&#10;&#10;Description automatically generated">
            <a:extLst>
              <a:ext uri="{FF2B5EF4-FFF2-40B4-BE49-F238E27FC236}">
                <a16:creationId xmlns:a16="http://schemas.microsoft.com/office/drawing/2014/main" id="{3F758EA9-052B-2F48-AADA-54A864EEF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757" y="1781643"/>
            <a:ext cx="4760280" cy="3167223"/>
          </a:xfr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EADE2F-3EA6-C419-3BAA-C0218412F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358" y="795719"/>
            <a:ext cx="3105259" cy="1819487"/>
          </a:xfrm>
          <a:prstGeom prst="rect">
            <a:avLst/>
          </a:prstGeom>
        </p:spPr>
      </p:pic>
      <p:pic>
        <p:nvPicPr>
          <p:cNvPr id="6" name="Picture 5" descr="A black and white image of a black object&#10;&#10;Description automatically generated">
            <a:extLst>
              <a:ext uri="{FF2B5EF4-FFF2-40B4-BE49-F238E27FC236}">
                <a16:creationId xmlns:a16="http://schemas.microsoft.com/office/drawing/2014/main" id="{E8C16004-DEFD-EFA6-1D19-C9B9C02FD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358" y="2849927"/>
            <a:ext cx="3105259" cy="1819487"/>
          </a:xfrm>
          <a:prstGeom prst="rect">
            <a:avLst/>
          </a:prstGeom>
        </p:spPr>
      </p:pic>
      <p:pic>
        <p:nvPicPr>
          <p:cNvPr id="8" name="Picture 7" descr="A black and white image of a black and white object&#10;&#10;Description automatically generated">
            <a:extLst>
              <a:ext uri="{FF2B5EF4-FFF2-40B4-BE49-F238E27FC236}">
                <a16:creationId xmlns:a16="http://schemas.microsoft.com/office/drawing/2014/main" id="{494A64B1-A1D0-918C-ACCC-AC35FC5A5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358" y="4948867"/>
            <a:ext cx="3105259" cy="181948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384D86-3DF5-25F4-F8B3-EE4EDA9E22D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815383" y="4948866"/>
            <a:ext cx="3455975" cy="90974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2026D9-FA1B-F813-B718-E83F73169C11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5365037" y="3365255"/>
            <a:ext cx="906321" cy="39441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708E51-F9E7-F594-C5DE-B6BFAE5B4658}"/>
              </a:ext>
            </a:extLst>
          </p:cNvPr>
          <p:cNvCxnSpPr>
            <a:cxnSpLocks/>
            <a:stCxn id="9" idx="0"/>
            <a:endCxn id="4" idx="1"/>
          </p:cNvCxnSpPr>
          <p:nvPr/>
        </p:nvCxnSpPr>
        <p:spPr>
          <a:xfrm flipV="1">
            <a:off x="2984897" y="1705463"/>
            <a:ext cx="3286461" cy="7618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9E1BD3-465D-0F7F-40D7-A998303AF95A}"/>
              </a:ext>
            </a:extLst>
          </p:cNvPr>
          <p:cNvSpPr txBox="1"/>
          <p:nvPr/>
        </p:nvSpPr>
        <p:spPr>
          <a:xfrm>
            <a:off x="9557819" y="1589781"/>
            <a:ext cx="2570073" cy="433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CA" sz="2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Low entropy → uniform regions (sky)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CA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CA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CA" sz="2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High entropy → rich texture regions (grass)</a:t>
            </a:r>
          </a:p>
        </p:txBody>
      </p:sp>
    </p:spTree>
    <p:extLst>
      <p:ext uri="{BB962C8B-B14F-4D97-AF65-F5344CB8AC3E}">
        <p14:creationId xmlns:p14="http://schemas.microsoft.com/office/powerpoint/2010/main" val="234277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DF42-356C-021B-CF6F-5900112E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Entropy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4D8E33-E025-0015-F860-E31B207EC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112" y="2066798"/>
            <a:ext cx="7404100" cy="749300"/>
          </a:xfrm>
        </p:spPr>
      </p:pic>
      <p:pic>
        <p:nvPicPr>
          <p:cNvPr id="7" name="Picture 6" descr="A person on a field&#10;&#10;Description automatically generated with medium confidence">
            <a:extLst>
              <a:ext uri="{FF2B5EF4-FFF2-40B4-BE49-F238E27FC236}">
                <a16:creationId xmlns:a16="http://schemas.microsoft.com/office/drawing/2014/main" id="{4C4A4DCB-3F55-DF5A-74C7-93CBD16AE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2" y="3018538"/>
            <a:ext cx="8938085" cy="335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2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1461-5CD6-AFBC-258E-3E9E3708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Limitations and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B232D-F474-F593-6C43-997486E01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Entropy = average unpredictability of pixel values in a region Computed from the normalized histogram </a:t>
            </a:r>
          </a:p>
          <a:p>
            <a:r>
              <a:rPr lang="en-CA" sz="3200" dirty="0"/>
              <a:t>High entropy → complex texture; Low entropy → uniform region </a:t>
            </a:r>
          </a:p>
          <a:p>
            <a:r>
              <a:rPr lang="en-CA" sz="3200" dirty="0"/>
              <a:t>Limitation: spatially blind — structure is invisible to entropy, but can be addressed by computing entropy locally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2118608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278</Words>
  <Application>Microsoft Macintosh PowerPoint</Application>
  <PresentationFormat>Widescreen</PresentationFormat>
  <Paragraphs>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Bierstadt</vt:lpstr>
      <vt:lpstr>Cambria Math</vt:lpstr>
      <vt:lpstr>Neue Haas Grotesk Text Pro</vt:lpstr>
      <vt:lpstr>Times New Roman</vt:lpstr>
      <vt:lpstr>GestaltVTI</vt:lpstr>
      <vt:lpstr>Entropy: Measuring Visual Complexity</vt:lpstr>
      <vt:lpstr>Entropy—measures disorder</vt:lpstr>
      <vt:lpstr>Shannon Entropy Formula</vt:lpstr>
      <vt:lpstr>Shannon Entropy Formula</vt:lpstr>
      <vt:lpstr>Shannon Entropy Formula</vt:lpstr>
      <vt:lpstr>Computing Image Entropy</vt:lpstr>
      <vt:lpstr>Computing Image Entropy</vt:lpstr>
      <vt:lpstr>Entropy as a Feature</vt:lpstr>
      <vt:lpstr>Local Entropy Map</vt:lpstr>
      <vt:lpstr>Limitations and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JR D</dc:creator>
  <cp:lastModifiedBy>JR D</cp:lastModifiedBy>
  <cp:revision>76</cp:revision>
  <dcterms:created xsi:type="dcterms:W3CDTF">2026-02-26T23:11:42Z</dcterms:created>
  <dcterms:modified xsi:type="dcterms:W3CDTF">2026-02-27T22:40:52Z</dcterms:modified>
</cp:coreProperties>
</file>